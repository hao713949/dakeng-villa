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62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729"/>
    <a:srgbClr val="3A5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03"/>
    <p:restoredTop sz="96405"/>
  </p:normalViewPr>
  <p:slideViewPr>
    <p:cSldViewPr snapToGrid="0" snapToObjects="1">
      <p:cViewPr>
        <p:scale>
          <a:sx n="140" d="100"/>
          <a:sy n="140" d="100"/>
        </p:scale>
        <p:origin x="14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3D2B8-2D96-FE47-A5BD-E0BC481C4D33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C8724-A986-5C4E-AE4E-2904A7755AF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8490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626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689BF6-D6A7-0B41-B45C-E67A31E81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BB282A5-FBEF-7B49-9FD5-49C9E3A3F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03DFA9-BB48-1D4F-A501-C52A2199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8DF621-9E82-A34F-B23E-2E69D1C1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4F9A55-52B2-2B45-8DA3-BB3E4F30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499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60F79-831D-4947-A1D9-B9D2B06A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B33BD0-3C69-0448-8D59-4C2F0C24A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887FE6-37E8-DC48-A969-C0CA461C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4EEF22-7710-074E-B8E7-5EFEFDE9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0AF463-32BA-DD45-AED0-893F13E5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372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FF8558-9A7A-FC48-9DE9-DE00F3F0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EBB3B2-8399-6749-ABFC-CA2E882F3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BBFBB0-F5C4-014F-A9D7-5EDFD761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41B9E0-7CA7-8543-8A86-3639074A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819E89-FC53-5647-8B2D-7ED595DA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5904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A96AD7-7EDB-6B49-95F8-CEC07D64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7B3E47-C5A7-B64B-989D-2FAA83624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3DA4329-6362-1540-BA4B-410542C40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867887-C4E2-5743-B367-E9B0AE39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C9A24C-CE81-5B44-A13B-E86492C6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99CABD-FCC0-3C4C-9A48-94BCB5DE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901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806A4-24DB-A641-A677-AC769951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7A47D8-6AA9-554B-9CE7-8AEFB5F44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FC5380-3B2E-8949-91C4-A2B2CE514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31878A3-E6E9-9144-96D3-C5A5320DC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47C8683-4BB1-5E4B-908F-7847F29D7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D7F5AD8-BFC5-484A-8580-0E77E0B7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799980C-9144-7C4C-A227-2FF7A28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9958677-57BA-384E-9177-31639205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789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529882-39FA-0246-AF28-BA991B40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8FADBB7-B088-E74A-A4BE-9728A916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D6EC75B-0A62-F242-84EB-B14A4294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7A63863-5460-FC4F-A820-0FCEBF8B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78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B51A82D-8E9F-494C-840D-1F4C18CF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063D92F-A507-D74C-AAA2-19D726D6E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8B2586-3A60-B046-8FEB-FFD536F6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12635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C366F8-D427-D249-A2B6-1BCB9CEDD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5C726B-4051-444B-BC41-C11420C9F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251F2B-C85B-C047-B3BA-0841A966F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0BB684-E9F6-C34C-BE20-8B0BBB9C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34690DC-F558-A540-BE90-AE9E4F91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704BD28-0561-AF44-88B1-0BEBE244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635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9B0CE6-30A3-4943-A2C2-00EB4F36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BF24442-9B74-334F-8C89-12BE09B4C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04D5D0-A470-C942-858E-1C9570335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DAC157-EDC3-E847-900B-45402426B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AFF6C26-296E-204B-83C1-C5B55A21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A5EFD2-19B8-A044-8633-4456761B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4928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4617BA-4CB6-6B4C-B721-87DF4C45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1FAF6F-90F1-8A46-B53E-A95DE5A73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D4DCD6-1072-C14D-A894-1212914D6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CB8EE9-C70D-2C47-AD60-DC3F5D5CE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B4D55B-724E-4249-9D6C-C2CED7CE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1637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C07CD7F-8DA5-1446-8A6E-68BF6C853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7252233-B856-674D-B96F-12EBA16A5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DC362A-1162-2E45-9F4D-21559684D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681DDF-F21A-DC41-AD42-97CEE9C2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11EBFB-45F5-9C45-AFEA-2C8A33BB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369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D4AD3C-942C-AE4F-B2CA-E14054B3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7A191B-4B96-6E46-A43D-8C69D7F38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58D931-6F3D-9E43-84D1-E6EDF5784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248C1-02AC-DA46-8C23-918B8E65C826}" type="datetimeFigureOut">
              <a:rPr kumimoji="1" lang="zh-TW" altLang="en-US" smtClean="0"/>
              <a:t>2026/4/12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5A798A-96D7-2D4D-B3C1-D6024E844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F38527-1667-394B-837C-E8731697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AE32B-E02A-2549-B7B5-FC6528718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006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10075"/>
            <a:ext cx="542925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0" y="4410075"/>
            <a:ext cx="5429250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571500" y="1457325"/>
            <a:ext cx="11049000" cy="514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1600200"/>
            <a:ext cx="106680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C3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單元：由地號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487-023</a:t>
            </a:r>
            <a:r>
              <a:rPr lang="zh-CN" altLang="en-US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及</a:t>
            </a:r>
            <a:r>
              <a:rPr lang="en-US" altLang="zh-CN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487-024</a:t>
            </a:r>
            <a:r>
              <a:rPr lang="zh-CN" altLang="en-US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兩筆土地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構成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，</a:t>
            </a:r>
            <a:r>
              <a:rPr lang="zh-CN" altLang="en-US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合計總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面積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en-US" sz="1350" b="1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329.89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坪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。</a:t>
            </a:r>
            <a:endParaRPr dirty="0"/>
          </a:p>
        </p:txBody>
      </p:sp>
      <p:sp>
        <p:nvSpPr>
          <p:cNvPr id="91" name="Google Shape;91;p13"/>
          <p:cNvSpPr/>
          <p:nvPr/>
        </p:nvSpPr>
        <p:spPr>
          <a:xfrm>
            <a:off x="571500" y="1457325"/>
            <a:ext cx="47625" cy="5143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2" name="Google Shape;92;p13"/>
          <p:cNvGraphicFramePr/>
          <p:nvPr>
            <p:extLst>
              <p:ext uri="{D42A27DB-BD31-4B8C-83A1-F6EECF244321}">
                <p14:modId xmlns:p14="http://schemas.microsoft.com/office/powerpoint/2010/main" val="653887549"/>
              </p:ext>
            </p:extLst>
          </p:nvPr>
        </p:nvGraphicFramePr>
        <p:xfrm>
          <a:off x="571500" y="2209800"/>
          <a:ext cx="11049000" cy="1914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2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1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地號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權狀面積 (坪)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公設面積 (坪)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總面積 (坪)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備註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487-023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122.709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43.102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350" b="0" dirty="0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165.81</a:t>
                      </a:r>
                      <a:endParaRPr b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C3 </a:t>
                      </a: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單元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350" b="0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487-024</a:t>
                      </a:r>
                      <a:endParaRPr sz="135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350" b="0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121.427</a:t>
                      </a:r>
                      <a:endParaRPr sz="135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350" dirty="0"/>
                        <a:t>42.651</a:t>
                      </a:r>
                      <a:endParaRPr sz="135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350" dirty="0"/>
                        <a:t>164.08</a:t>
                      </a:r>
                      <a:endParaRPr sz="135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35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350" b="0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C3 </a:t>
                      </a:r>
                      <a:r>
                        <a:rPr lang="zh-TW" altLang="en-US" sz="1350" b="0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單元</a:t>
                      </a:r>
                      <a:endParaRPr lang="zh-TW" altLang="en-US" sz="1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合計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350" b="1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244.136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350" b="1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85.753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350" b="1" dirty="0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329.89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3" name="Google Shape;93;p13"/>
          <p:cNvSpPr txBox="1"/>
          <p:nvPr/>
        </p:nvSpPr>
        <p:spPr>
          <a:xfrm>
            <a:off x="571500" y="476250"/>
            <a:ext cx="46676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認購單元資料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 —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編號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en-US" sz="3150" b="1" dirty="0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C3</a:t>
            </a:r>
            <a:endParaRPr dirty="0"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4762" y="61912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7340600" y="704850"/>
            <a:ext cx="224571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總價：</a:t>
            </a:r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latin typeface="Noto Sans TC"/>
                <a:ea typeface="Noto Sans TC"/>
                <a:cs typeface="Noto Sans TC"/>
                <a:sym typeface="Noto Sans TC"/>
              </a:rPr>
              <a:t>   2979.58 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萬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9753600" y="704850"/>
            <a:ext cx="186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單價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：</a:t>
            </a:r>
            <a:r>
              <a:rPr lang="en-US" b="0" i="0" u="sng" strike="noStrike" cap="none" dirty="0">
                <a:solidFill>
                  <a:schemeClr val="accent2">
                    <a:lumMod val="75000"/>
                  </a:schemeClr>
                </a:solidFill>
                <a:latin typeface="Noto Sans TC"/>
                <a:ea typeface="Noto Sans TC"/>
                <a:cs typeface="Noto Sans TC"/>
                <a:sym typeface="Noto Sans TC"/>
              </a:rPr>
              <a:t>     9.03    </a:t>
            </a:r>
            <a:r>
              <a:rPr lang="en-US" b="0" i="0" strike="noStrike" cap="none" dirty="0">
                <a:solidFill>
                  <a:schemeClr val="accent2">
                    <a:lumMod val="75000"/>
                  </a:schemeClr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en-US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萬</a:t>
            </a:r>
            <a:endParaRPr dirty="0"/>
          </a:p>
        </p:txBody>
      </p:sp>
      <p:sp>
        <p:nvSpPr>
          <p:cNvPr id="97" name="Google Shape;97;p13"/>
          <p:cNvSpPr/>
          <p:nvPr/>
        </p:nvSpPr>
        <p:spPr>
          <a:xfrm>
            <a:off x="571500" y="3176587"/>
            <a:ext cx="1820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2391816" y="3176587"/>
            <a:ext cx="2596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4987825" y="3176587"/>
            <a:ext cx="2596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7583834" y="3176587"/>
            <a:ext cx="2254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9838729" y="3176587"/>
            <a:ext cx="1781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571500" y="3643312"/>
            <a:ext cx="1820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2391816" y="3643312"/>
            <a:ext cx="2596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4987825" y="3643312"/>
            <a:ext cx="2596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7583834" y="3643312"/>
            <a:ext cx="2254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9838729" y="3643312"/>
            <a:ext cx="1781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571500" y="4110037"/>
            <a:ext cx="1820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2391816" y="4110037"/>
            <a:ext cx="2596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4987825" y="4110037"/>
            <a:ext cx="25960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7583834" y="4110037"/>
            <a:ext cx="2254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9838729" y="4110037"/>
            <a:ext cx="1781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104900" y="4610100"/>
            <a:ext cx="493061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公設預撥地 / 會館用地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771525" y="4962525"/>
            <a:ext cx="5029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C3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 持分比例：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2094 / 100,000</a:t>
            </a:r>
            <a:endParaRPr dirty="0"/>
          </a:p>
        </p:txBody>
      </p:sp>
      <p:sp>
        <p:nvSpPr>
          <p:cNvPr id="114" name="Google Shape;114;p13"/>
          <p:cNvSpPr txBox="1"/>
          <p:nvPr/>
        </p:nvSpPr>
        <p:spPr>
          <a:xfrm>
            <a:off x="771525" y="5229225"/>
            <a:ext cx="5029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適用地號：公設預撥地及社區會館用地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6705600" y="4610100"/>
            <a:ext cx="495061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自益信託用地比例</a:t>
            </a:r>
            <a:endParaRPr dirty="0"/>
          </a:p>
        </p:txBody>
      </p:sp>
      <p:sp>
        <p:nvSpPr>
          <p:cNvPr id="116" name="Google Shape;116;p13"/>
          <p:cNvSpPr txBox="1"/>
          <p:nvPr/>
        </p:nvSpPr>
        <p:spPr>
          <a:xfrm>
            <a:off x="6391275" y="4962525"/>
            <a:ext cx="5029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C3 持分比例：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2094 / 100,000</a:t>
            </a:r>
            <a:endParaRPr dirty="0"/>
          </a:p>
        </p:txBody>
      </p:sp>
      <p:sp>
        <p:nvSpPr>
          <p:cNvPr id="117" name="Google Shape;117;p13"/>
          <p:cNvSpPr txBox="1"/>
          <p:nvPr/>
        </p:nvSpPr>
        <p:spPr>
          <a:xfrm>
            <a:off x="6391275" y="5229225"/>
            <a:ext cx="5029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適用地號：487-223 (特二變) 及農地五筆</a:t>
            </a:r>
            <a:endParaRPr/>
          </a:p>
        </p:txBody>
      </p:sp>
      <p:pic>
        <p:nvPicPr>
          <p:cNvPr id="118" name="Google Shape;11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64343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4643437"/>
            <a:ext cx="219075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89C506D5-5405-0F40-958D-85362AC5ADF8}"/>
              </a:ext>
            </a:extLst>
          </p:cNvPr>
          <p:cNvGrpSpPr/>
          <p:nvPr/>
        </p:nvGrpSpPr>
        <p:grpSpPr>
          <a:xfrm>
            <a:off x="619125" y="5931528"/>
            <a:ext cx="11206851" cy="719468"/>
            <a:chOff x="571499" y="3870823"/>
            <a:chExt cx="11048999" cy="898538"/>
          </a:xfrm>
        </p:grpSpPr>
        <p:sp>
          <p:nvSpPr>
            <p:cNvPr id="2" name="圓角矩形 1">
              <a:extLst>
                <a:ext uri="{FF2B5EF4-FFF2-40B4-BE49-F238E27FC236}">
                  <a16:creationId xmlns:a16="http://schemas.microsoft.com/office/drawing/2014/main" id="{11BAA1B0-8B2E-914B-B225-BE5F4D731871}"/>
                </a:ext>
              </a:extLst>
            </p:cNvPr>
            <p:cNvSpPr/>
            <p:nvPr/>
          </p:nvSpPr>
          <p:spPr>
            <a:xfrm>
              <a:off x="571499" y="3870823"/>
              <a:ext cx="11048999" cy="898538"/>
            </a:xfrm>
            <a:prstGeom prst="roundRect">
              <a:avLst/>
            </a:prstGeom>
            <a:solidFill>
              <a:srgbClr val="0E17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4D554ED7-40CF-6040-BEE8-2EC8C59561EC}"/>
                </a:ext>
              </a:extLst>
            </p:cNvPr>
            <p:cNvSpPr txBox="1"/>
            <p:nvPr/>
          </p:nvSpPr>
          <p:spPr>
            <a:xfrm>
              <a:off x="3215242" y="4031809"/>
              <a:ext cx="5373759" cy="576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r>
                <a:rPr kumimoji="1" lang="zh-TW" altLang="en-US" dirty="0">
                  <a:solidFill>
                    <a:schemeClr val="bg1"/>
                  </a:solidFill>
                </a:rPr>
                <a:t>自益信託用地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，未來處分收益可分配約每坪</a:t>
              </a:r>
              <a:r>
                <a:rPr kumimoji="1" lang="en-US" altLang="zh-CN" dirty="0">
                  <a:solidFill>
                    <a:schemeClr val="bg1"/>
                  </a:solidFill>
                </a:rPr>
                <a:t> </a:t>
              </a:r>
              <a:r>
                <a:rPr kumimoji="1" lang="en-US" altLang="zh-CN" sz="2400" dirty="0">
                  <a:solidFill>
                    <a:srgbClr val="FFFF00"/>
                  </a:solidFill>
                </a:rPr>
                <a:t>1.46</a:t>
              </a:r>
              <a:r>
                <a:rPr kumimoji="1" lang="en-US" altLang="zh-CN" dirty="0">
                  <a:solidFill>
                    <a:schemeClr val="bg1"/>
                  </a:solidFill>
                </a:rPr>
                <a:t> </a:t>
              </a:r>
              <a:r>
                <a:rPr kumimoji="1" lang="zh-CN" altLang="en-US" dirty="0">
                  <a:solidFill>
                    <a:schemeClr val="bg1"/>
                  </a:solidFill>
                </a:rPr>
                <a:t>萬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CC7EC4F0-168B-874B-A6E3-B66ED6957FF9}"/>
              </a:ext>
            </a:extLst>
          </p:cNvPr>
          <p:cNvCxnSpPr/>
          <p:nvPr/>
        </p:nvCxnSpPr>
        <p:spPr>
          <a:xfrm>
            <a:off x="521891" y="1278466"/>
            <a:ext cx="11148218" cy="0"/>
          </a:xfrm>
          <a:prstGeom prst="line">
            <a:avLst/>
          </a:prstGeom>
          <a:ln w="28575">
            <a:solidFill>
              <a:srgbClr val="0E17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82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6BDEEAE-7609-6642-A8A7-381628C11D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287" t="52578" r="26957" b="27830"/>
          <a:stretch/>
        </p:blipFill>
        <p:spPr>
          <a:xfrm>
            <a:off x="308614" y="1491879"/>
            <a:ext cx="5610948" cy="4606678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0B62A52B-5352-F547-BD83-233F27FD3863}"/>
              </a:ext>
            </a:extLst>
          </p:cNvPr>
          <p:cNvSpPr/>
          <p:nvPr/>
        </p:nvSpPr>
        <p:spPr>
          <a:xfrm>
            <a:off x="1791604" y="2802695"/>
            <a:ext cx="1813273" cy="171354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FE513F9-295F-0E41-98D8-54FEFB75DE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045"/>
          <a:stretch/>
        </p:blipFill>
        <p:spPr>
          <a:xfrm>
            <a:off x="6096000" y="1829716"/>
            <a:ext cx="5826882" cy="426884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BDDF4CD-B9BD-6940-A3AF-E2F7CAFC9BD1}"/>
              </a:ext>
            </a:extLst>
          </p:cNvPr>
          <p:cNvSpPr/>
          <p:nvPr/>
        </p:nvSpPr>
        <p:spPr>
          <a:xfrm>
            <a:off x="9308592" y="3319271"/>
            <a:ext cx="2432304" cy="11969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46392717-68B8-1147-B3AD-1A2AD7DA42DE}"/>
              </a:ext>
            </a:extLst>
          </p:cNvPr>
          <p:cNvSpPr txBox="1"/>
          <p:nvPr/>
        </p:nvSpPr>
        <p:spPr>
          <a:xfrm>
            <a:off x="571500" y="476250"/>
            <a:ext cx="466761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認購單元</a:t>
            </a:r>
            <a:r>
              <a:rPr lang="zh-CN" altLang="en-US" sz="3150" b="1" i="0" u="none" strike="noStrike" cap="none" dirty="0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資料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 —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編號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en-US" sz="3150" b="1" dirty="0">
                <a:solidFill>
                  <a:srgbClr val="0F172A"/>
                </a:solidFill>
                <a:latin typeface="Noto Sans TC"/>
                <a:ea typeface="Noto Sans TC"/>
                <a:cs typeface="Noto Sans TC"/>
                <a:sym typeface="Noto Sans TC"/>
              </a:rPr>
              <a:t>C3</a:t>
            </a:r>
            <a:endParaRPr dirty="0"/>
          </a:p>
        </p:txBody>
      </p:sp>
      <p:sp>
        <p:nvSpPr>
          <p:cNvPr id="7" name="Google Shape;93;p13">
            <a:extLst>
              <a:ext uri="{FF2B5EF4-FFF2-40B4-BE49-F238E27FC236}">
                <a16:creationId xmlns:a16="http://schemas.microsoft.com/office/drawing/2014/main" id="{A5CEF562-A475-204A-B2D1-9D317B6E3916}"/>
              </a:ext>
            </a:extLst>
          </p:cNvPr>
          <p:cNvSpPr txBox="1"/>
          <p:nvPr/>
        </p:nvSpPr>
        <p:spPr>
          <a:xfrm>
            <a:off x="4110567" y="6144690"/>
            <a:ext cx="180899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尺寸圖</a:t>
            </a:r>
            <a:endParaRPr sz="1400" dirty="0"/>
          </a:p>
        </p:txBody>
      </p:sp>
      <p:sp>
        <p:nvSpPr>
          <p:cNvPr id="8" name="Google Shape;93;p13">
            <a:extLst>
              <a:ext uri="{FF2B5EF4-FFF2-40B4-BE49-F238E27FC236}">
                <a16:creationId xmlns:a16="http://schemas.microsoft.com/office/drawing/2014/main" id="{8898BC87-47A8-5E4C-8E35-FC1708D0CDFA}"/>
              </a:ext>
            </a:extLst>
          </p:cNvPr>
          <p:cNvSpPr txBox="1"/>
          <p:nvPr/>
        </p:nvSpPr>
        <p:spPr>
          <a:xfrm>
            <a:off x="10032990" y="6144690"/>
            <a:ext cx="180899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原整地空照圖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4118429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114</Words>
  <Application>Microsoft Macintosh PowerPoint</Application>
  <PresentationFormat>寬螢幕</PresentationFormat>
  <Paragraphs>35</Paragraphs>
  <Slides>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Noto Sans TC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Microsoft Office User</cp:lastModifiedBy>
  <cp:revision>12</cp:revision>
  <dcterms:created xsi:type="dcterms:W3CDTF">2026-04-12T09:03:15Z</dcterms:created>
  <dcterms:modified xsi:type="dcterms:W3CDTF">2026-04-12T11:02:35Z</dcterms:modified>
</cp:coreProperties>
</file>